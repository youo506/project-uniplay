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65" r:id="rId3"/>
    <p:sldId id="257" r:id="rId4"/>
    <p:sldId id="264" r:id="rId5"/>
    <p:sldId id="267" r:id="rId6"/>
    <p:sldId id="268" r:id="rId7"/>
    <p:sldId id="270" r:id="rId8"/>
    <p:sldId id="271" r:id="rId9"/>
    <p:sldId id="272" r:id="rId10"/>
    <p:sldId id="273" r:id="rId11"/>
    <p:sldId id="274" r:id="rId12"/>
    <p:sldId id="275" r:id="rId13"/>
    <p:sldId id="283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6" r:id="rId2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5648BD3-6FDB-4DD3-B1F9-FB7568F6366B}">
          <p14:sldIdLst>
            <p14:sldId id="256"/>
            <p14:sldId id="265"/>
            <p14:sldId id="257"/>
            <p14:sldId id="264"/>
            <p14:sldId id="267"/>
            <p14:sldId id="268"/>
            <p14:sldId id="270"/>
            <p14:sldId id="271"/>
            <p14:sldId id="272"/>
            <p14:sldId id="273"/>
            <p14:sldId id="274"/>
            <p14:sldId id="275"/>
            <p14:sldId id="283"/>
            <p14:sldId id="276"/>
            <p14:sldId id="277"/>
            <p14:sldId id="278"/>
            <p14:sldId id="279"/>
            <p14:sldId id="280"/>
            <p14:sldId id="281"/>
            <p14:sldId id="282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9677"/>
    <a:srgbClr val="FEAF00"/>
    <a:srgbClr val="957777"/>
    <a:srgbClr val="762828"/>
    <a:srgbClr val="888E6A"/>
    <a:srgbClr val="C4B3B3"/>
    <a:srgbClr val="BCB3C4"/>
    <a:srgbClr val="897997"/>
    <a:srgbClr val="6C6066"/>
    <a:srgbClr val="988A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9" autoAdjust="0"/>
    <p:restoredTop sz="94660"/>
  </p:normalViewPr>
  <p:slideViewPr>
    <p:cSldViewPr snapToGrid="0">
      <p:cViewPr varScale="1">
        <p:scale>
          <a:sx n="98" d="100"/>
          <a:sy n="98" d="100"/>
        </p:scale>
        <p:origin x="1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B7F3A-8E52-4569-8A91-7CC0D6372BEE}" type="datetimeFigureOut">
              <a:rPr lang="ko-KR" altLang="en-US" smtClean="0"/>
              <a:t>2025-12-10 (Wed)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C852A3-FEC0-4A53-9D82-20C6AFE856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232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852A3-FEC0-4A53-9D82-20C6AFE8569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0009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852A3-FEC0-4A53-9D82-20C6AFE8569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5053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852A3-FEC0-4A53-9D82-20C6AFE8569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906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58E14-23EC-4C25-974C-48FA83988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407" y="978408"/>
            <a:ext cx="3765887" cy="5074226"/>
          </a:xfrm>
        </p:spPr>
        <p:txBody>
          <a:bodyPr anchor="b"/>
          <a:lstStyle>
            <a:lvl1pPr algn="l"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FEDD4-20A1-49F6-9E3E-0B26B426B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96630" y="3602038"/>
            <a:ext cx="3765887" cy="224458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1650" i="1"/>
            </a:lvl1pPr>
            <a:lvl2pPr marL="342875" indent="0" algn="ctr">
              <a:buNone/>
              <a:defRPr sz="1500"/>
            </a:lvl2pPr>
            <a:lvl3pPr marL="685749" indent="0" algn="ctr">
              <a:buNone/>
              <a:defRPr sz="1350"/>
            </a:lvl3pPr>
            <a:lvl4pPr marL="1028624" indent="0" algn="ctr">
              <a:buNone/>
              <a:defRPr sz="1200"/>
            </a:lvl4pPr>
            <a:lvl5pPr marL="1371498" indent="0" algn="ctr">
              <a:buNone/>
              <a:defRPr sz="1200"/>
            </a:lvl5pPr>
            <a:lvl6pPr marL="1714373" indent="0" algn="ctr">
              <a:buNone/>
              <a:defRPr sz="1200"/>
            </a:lvl6pPr>
            <a:lvl7pPr marL="2057246" indent="0" algn="ctr">
              <a:buNone/>
              <a:defRPr sz="1200"/>
            </a:lvl7pPr>
            <a:lvl8pPr marL="2400120" indent="0" algn="ctr">
              <a:buNone/>
              <a:defRPr sz="1200"/>
            </a:lvl8pPr>
            <a:lvl9pPr marL="2742995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0A32F-E6F3-4C2E-B9E3-E47868E42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A759-BFF8-4B5B-9ECE-D93AC303B331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06724-A87A-4231-BFD9-277482AF7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0D1AF-36B8-4BB8-BD6A-71194F7B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FF94B3-6D3E-44FE-BB02-A9027C00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96631" y="6209934"/>
            <a:ext cx="3765887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544973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3D8A-C68D-4CF9-9D15-3E09BCC0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4D94C-E537-4FF3-AAF8-A85F05C31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4B1D4-6731-4993-8609-16C1D332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B316-A2E6-49F2-825C-64AA951E4184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B7BBD-CEEB-4256-84B2-6D907E118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2A8B7-F430-4F4A-BB63-481F51E5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857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BAC1C-A332-4BA5-8C9C-FE0396C81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403" y="978408"/>
            <a:ext cx="3765042" cy="4870974"/>
          </a:xfrm>
        </p:spPr>
        <p:txBody>
          <a:bodyPr anchor="t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8D137-710E-4125-B5E9-F63E7F1C9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96630" y="3566648"/>
            <a:ext cx="3765887" cy="2279979"/>
          </a:xfrm>
        </p:spPr>
        <p:txBody>
          <a:bodyPr anchor="b">
            <a:normAutofit/>
          </a:bodyPr>
          <a:lstStyle>
            <a:lvl1pPr marL="0" indent="0">
              <a:buNone/>
              <a:defRPr sz="1650" i="1">
                <a:solidFill>
                  <a:schemeClr val="tx1"/>
                </a:solidFill>
              </a:defRPr>
            </a:lvl1pPr>
            <a:lvl2pPr marL="34287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49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2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49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37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4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299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480C5-E9A6-425E-B050-03E444BE9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9748B-ADD6-4C5A-8C2A-A39721276E74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B4831-6C0B-4E0B-A341-91E4C5D3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11EE6-252D-46DD-94DF-C42657EF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71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4B06-C54A-4B7B-B6D1-436428EAF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406" y="978412"/>
            <a:ext cx="3765887" cy="52076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23919-9A2F-4D97-8F31-6E35BD597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47291" y="969264"/>
            <a:ext cx="3968063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DA345-F684-4BAA-A22C-E725B3A60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7291" y="3621849"/>
            <a:ext cx="3968063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99C52-9753-45D8-9646-CF31BB01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FB0F-3C5C-4949-B933-9C7E511ED094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95E57-622C-4199-940E-F5462E1A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B7592-00E8-41EF-B749-2A5EA8E46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70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2291277-967B-4176-B40B-9EC360626994}"/>
              </a:ext>
            </a:extLst>
          </p:cNvPr>
          <p:cNvSpPr/>
          <p:nvPr/>
        </p:nvSpPr>
        <p:spPr>
          <a:xfrm>
            <a:off x="388402" y="508099"/>
            <a:ext cx="836676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11C00-F7CB-4484-807A-D12745CD3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406" y="978119"/>
            <a:ext cx="8374111" cy="1073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AAA6E-E243-48B3-9585-3C1420B3E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403" y="2178908"/>
            <a:ext cx="3765042" cy="654908"/>
          </a:xfrm>
        </p:spPr>
        <p:txBody>
          <a:bodyPr anchor="b">
            <a:normAutofit/>
          </a:bodyPr>
          <a:lstStyle>
            <a:lvl1pPr marL="0" indent="0">
              <a:buNone/>
              <a:defRPr sz="1650" b="0" i="1"/>
            </a:lvl1pPr>
            <a:lvl2pPr marL="342875" indent="0">
              <a:buNone/>
              <a:defRPr sz="1500" b="1"/>
            </a:lvl2pPr>
            <a:lvl3pPr marL="685749" indent="0">
              <a:buNone/>
              <a:defRPr sz="1350" b="1"/>
            </a:lvl3pPr>
            <a:lvl4pPr marL="1028624" indent="0">
              <a:buNone/>
              <a:defRPr sz="1200" b="1"/>
            </a:lvl4pPr>
            <a:lvl5pPr marL="1371498" indent="0">
              <a:buNone/>
              <a:defRPr sz="1200" b="1"/>
            </a:lvl5pPr>
            <a:lvl6pPr marL="1714373" indent="0">
              <a:buNone/>
              <a:defRPr sz="1200" b="1"/>
            </a:lvl6pPr>
            <a:lvl7pPr marL="2057246" indent="0">
              <a:buNone/>
              <a:defRPr sz="1200" b="1"/>
            </a:lvl7pPr>
            <a:lvl8pPr marL="2400120" indent="0">
              <a:buNone/>
              <a:defRPr sz="1200" b="1"/>
            </a:lvl8pPr>
            <a:lvl9pPr marL="2742995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D01B8-0F2E-41A4-B21C-334393F6A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8403" y="2876094"/>
            <a:ext cx="3765042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9B23F-3E60-415A-9CE7-0928B5CFB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96630" y="2178908"/>
            <a:ext cx="3765887" cy="654908"/>
          </a:xfrm>
        </p:spPr>
        <p:txBody>
          <a:bodyPr anchor="b">
            <a:normAutofit/>
          </a:bodyPr>
          <a:lstStyle>
            <a:lvl1pPr marL="0" indent="0">
              <a:buNone/>
              <a:defRPr sz="1650" b="0" i="1"/>
            </a:lvl1pPr>
            <a:lvl2pPr marL="342875" indent="0">
              <a:buNone/>
              <a:defRPr sz="1500" b="1"/>
            </a:lvl2pPr>
            <a:lvl3pPr marL="685749" indent="0">
              <a:buNone/>
              <a:defRPr sz="1350" b="1"/>
            </a:lvl3pPr>
            <a:lvl4pPr marL="1028624" indent="0">
              <a:buNone/>
              <a:defRPr sz="1200" b="1"/>
            </a:lvl4pPr>
            <a:lvl5pPr marL="1371498" indent="0">
              <a:buNone/>
              <a:defRPr sz="1200" b="1"/>
            </a:lvl5pPr>
            <a:lvl6pPr marL="1714373" indent="0">
              <a:buNone/>
              <a:defRPr sz="1200" b="1"/>
            </a:lvl6pPr>
            <a:lvl7pPr marL="2057246" indent="0">
              <a:buNone/>
              <a:defRPr sz="1200" b="1"/>
            </a:lvl7pPr>
            <a:lvl8pPr marL="2400120" indent="0">
              <a:buNone/>
              <a:defRPr sz="1200" b="1"/>
            </a:lvl8pPr>
            <a:lvl9pPr marL="2742995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23446-0CDC-402B-8D71-D9D29F6DF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96630" y="2876094"/>
            <a:ext cx="3765887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B77D3-C6EC-4FFD-9E10-24E1AC54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8403" y="6420423"/>
            <a:ext cx="2057400" cy="365125"/>
          </a:xfrm>
        </p:spPr>
        <p:txBody>
          <a:bodyPr/>
          <a:lstStyle/>
          <a:p>
            <a:fld id="{C2F01D58-E949-4BCB-829A-BBF80E38D59C}" type="datetime1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DF31B-BD07-4DC2-95C2-B77E51AA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54CE5A-3A0A-4AAB-81D2-F1C20636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291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16B8-52AB-412B-BBE7-B6BE698F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F779C3-9D19-467E-A5D2-0920834D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A846-0DA4-4D92-9BF1-DE8C52C1F4DF}" type="datetime1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72BB4-C8D8-4F74-9677-5AC97993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B49B8-779F-4492-ABD9-96F0D042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796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B976BF-9339-48D6-881A-280D15492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2331-4A9C-472F-A7FA-968157338839}" type="datetime1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77605-C9C8-432E-9662-D7D410B1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432B6-4A12-46EF-98A7-B5D50BD5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01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191C-AF68-4230-A7B2-F8F07B486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403" y="978417"/>
            <a:ext cx="3765711" cy="2270641"/>
          </a:xfrm>
        </p:spPr>
        <p:txBody>
          <a:bodyPr anchor="t">
            <a:noAutofit/>
          </a:bodyPr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F9F11-5FCF-4D7E-BA51-38CB84277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887" y="987432"/>
            <a:ext cx="3765711" cy="4873625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3B519B-06C0-41BC-95FB-FB1FE4363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8403" y="3361047"/>
            <a:ext cx="3765711" cy="2507949"/>
          </a:xfrm>
        </p:spPr>
        <p:txBody>
          <a:bodyPr>
            <a:normAutofit/>
          </a:bodyPr>
          <a:lstStyle>
            <a:lvl1pPr marL="0" indent="0">
              <a:buNone/>
              <a:defRPr sz="1800" b="0" i="1"/>
            </a:lvl1pPr>
            <a:lvl2pPr marL="342875" indent="0">
              <a:buNone/>
              <a:defRPr sz="1050"/>
            </a:lvl2pPr>
            <a:lvl3pPr marL="685749" indent="0">
              <a:buNone/>
              <a:defRPr sz="900"/>
            </a:lvl3pPr>
            <a:lvl4pPr marL="1028624" indent="0">
              <a:buNone/>
              <a:defRPr sz="750"/>
            </a:lvl4pPr>
            <a:lvl5pPr marL="1371498" indent="0">
              <a:buNone/>
              <a:defRPr sz="750"/>
            </a:lvl5pPr>
            <a:lvl6pPr marL="1714373" indent="0">
              <a:buNone/>
              <a:defRPr sz="750"/>
            </a:lvl6pPr>
            <a:lvl7pPr marL="2057246" indent="0">
              <a:buNone/>
              <a:defRPr sz="750"/>
            </a:lvl7pPr>
            <a:lvl8pPr marL="2400120" indent="0">
              <a:buNone/>
              <a:defRPr sz="750"/>
            </a:lvl8pPr>
            <a:lvl9pPr marL="2742995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8B70C-015C-4832-AFF6-D033E0227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97F3D-ED52-43FD-A26D-318B71534485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1A6FB-8C14-46D1-90A5-0FF11DE7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2C585-6FA1-4E94-9C1C-A1DEDE551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856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98B43-D1CE-43F4-A367-EF1FE9688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403" y="978417"/>
            <a:ext cx="3765711" cy="2270641"/>
          </a:xfrm>
        </p:spPr>
        <p:txBody>
          <a:bodyPr anchor="t">
            <a:noAutofit/>
          </a:bodyPr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B73978-8CDF-4C0E-ABA1-7291A0347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96626" y="987434"/>
            <a:ext cx="3770254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75" indent="0">
              <a:buNone/>
              <a:defRPr sz="2100"/>
            </a:lvl2pPr>
            <a:lvl3pPr marL="685749" indent="0">
              <a:buNone/>
              <a:defRPr sz="1800"/>
            </a:lvl3pPr>
            <a:lvl4pPr marL="1028624" indent="0">
              <a:buNone/>
              <a:defRPr sz="1500"/>
            </a:lvl4pPr>
            <a:lvl5pPr marL="1371498" indent="0">
              <a:buNone/>
              <a:defRPr sz="1500"/>
            </a:lvl5pPr>
            <a:lvl6pPr marL="1714373" indent="0">
              <a:buNone/>
              <a:defRPr sz="1500"/>
            </a:lvl6pPr>
            <a:lvl7pPr marL="2057246" indent="0">
              <a:buNone/>
              <a:defRPr sz="1500"/>
            </a:lvl7pPr>
            <a:lvl8pPr marL="2400120" indent="0">
              <a:buNone/>
              <a:defRPr sz="1500"/>
            </a:lvl8pPr>
            <a:lvl9pPr marL="2742995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ECC62-ED45-451E-BEC5-A03C6A554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8403" y="3340451"/>
            <a:ext cx="3765711" cy="2528545"/>
          </a:xfrm>
        </p:spPr>
        <p:txBody>
          <a:bodyPr>
            <a:normAutofit/>
          </a:bodyPr>
          <a:lstStyle>
            <a:lvl1pPr marL="0" indent="0">
              <a:buNone/>
              <a:defRPr sz="1650" b="0" i="1"/>
            </a:lvl1pPr>
            <a:lvl2pPr marL="342875" indent="0">
              <a:buNone/>
              <a:defRPr sz="1050"/>
            </a:lvl2pPr>
            <a:lvl3pPr marL="685749" indent="0">
              <a:buNone/>
              <a:defRPr sz="900"/>
            </a:lvl3pPr>
            <a:lvl4pPr marL="1028624" indent="0">
              <a:buNone/>
              <a:defRPr sz="750"/>
            </a:lvl4pPr>
            <a:lvl5pPr marL="1371498" indent="0">
              <a:buNone/>
              <a:defRPr sz="750"/>
            </a:lvl5pPr>
            <a:lvl6pPr marL="1714373" indent="0">
              <a:buNone/>
              <a:defRPr sz="750"/>
            </a:lvl6pPr>
            <a:lvl7pPr marL="2057246" indent="0">
              <a:buNone/>
              <a:defRPr sz="750"/>
            </a:lvl7pPr>
            <a:lvl8pPr marL="2400120" indent="0">
              <a:buNone/>
              <a:defRPr sz="750"/>
            </a:lvl8pPr>
            <a:lvl9pPr marL="2742995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A7A86-B983-4315-9312-936B4FCF7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91FA4-6264-4BB8-B3B5-77711EED2D82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E88C0-25A5-46F9-AB35-EAD50E6B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F9EA8-45AD-478E-8606-9328245B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62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F6B8E-1D8E-4105-9BBB-D53AD24B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25530-6629-4FEA-9670-EB21A2F5B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64C7A-A73F-46F5-BC33-696671DA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F398-5DA3-4937-BE3F-7CA1B9158252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B3CC0-B649-4509-A4B6-DF9D20EF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ECCCA-3F2A-46F3-BF45-7C862FF1D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333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50133B-2446-4168-AA17-653891066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96627" y="996791"/>
            <a:ext cx="3758972" cy="49569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06A9AD-2756-4C51-A958-6756301EB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88407" y="996791"/>
            <a:ext cx="3765887" cy="4956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2995D-CCEA-43AF-973B-8B6B56A5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1ED9-F929-4A92-90F9-3C9C84ABBE83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029CF-BA62-4CCD-956E-FFA0B37B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E0B3D-96AB-41B3-ABDD-5B0DE863D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18136A-0796-46EB-89BB-4C73C0258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96631" y="6209934"/>
            <a:ext cx="3765887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607073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61AD20-E240-4E6F-AF91-689F7AEE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406" y="978417"/>
            <a:ext cx="3765887" cy="4870457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78801-35D1-4C19-BC2B-EAC7EE917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96630" y="969273"/>
            <a:ext cx="3765887" cy="4870457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82A45-C5B9-4575-8E28-A35767B4D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8403" y="6420423"/>
            <a:ext cx="20574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675" spc="38">
                <a:solidFill>
                  <a:schemeClr val="tx1"/>
                </a:solidFill>
              </a:defRPr>
            </a:lvl1pPr>
          </a:lstStyle>
          <a:p>
            <a:fld id="{E7F6A1D9-D323-4F4E-8655-25E2D32CE742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D0933-AA03-4018-8E37-004CFB9F6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8403" y="97722"/>
            <a:ext cx="30861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675" spc="38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F282A-DF4A-4A2D-9672-8F0F770A3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90740" y="6420423"/>
            <a:ext cx="478432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fld id="{DFDF98CC-160E-494C-8C3C-8CDC5FA257D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E57300-C7FF-4578-99A0-42B0295B123C}"/>
              </a:ext>
            </a:extLst>
          </p:cNvPr>
          <p:cNvSpPr/>
          <p:nvPr/>
        </p:nvSpPr>
        <p:spPr>
          <a:xfrm>
            <a:off x="388407" y="508099"/>
            <a:ext cx="3765887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8F8250-7A81-4A19-87AD-FFB2CE4E39A5}"/>
              </a:ext>
            </a:extLst>
          </p:cNvPr>
          <p:cNvSpPr/>
          <p:nvPr/>
        </p:nvSpPr>
        <p:spPr>
          <a:xfrm>
            <a:off x="388407" y="508099"/>
            <a:ext cx="3765887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38FC-2DEA-2647-C409-EF75720C1017}"/>
              </a:ext>
            </a:extLst>
          </p:cNvPr>
          <p:cNvSpPr/>
          <p:nvPr/>
        </p:nvSpPr>
        <p:spPr>
          <a:xfrm>
            <a:off x="388407" y="508099"/>
            <a:ext cx="3765887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064521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749" rtl="0" eaLnBrk="1" latinLnBrk="0" hangingPunct="1">
        <a:lnSpc>
          <a:spcPct val="100000"/>
        </a:lnSpc>
        <a:spcBef>
          <a:spcPct val="0"/>
        </a:spcBef>
        <a:buNone/>
        <a:defRPr sz="4050" b="1" kern="1200" spc="75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749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None/>
        <a:defRPr sz="1500" kern="1200" spc="53">
          <a:solidFill>
            <a:schemeClr val="tx1"/>
          </a:solidFill>
          <a:latin typeface="+mn-lt"/>
          <a:ea typeface="+mn-ea"/>
          <a:cs typeface="+mn-cs"/>
        </a:defRPr>
      </a:lvl1pPr>
      <a:lvl2pPr marL="205725" indent="-205725" algn="l" defTabSz="685749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350" kern="1200" spc="53">
          <a:solidFill>
            <a:schemeClr val="tx1"/>
          </a:solidFill>
          <a:latin typeface="+mn-lt"/>
          <a:ea typeface="+mn-ea"/>
          <a:cs typeface="+mn-cs"/>
        </a:defRPr>
      </a:lvl2pPr>
      <a:lvl3pPr marL="205725" indent="0" algn="l" defTabSz="685749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350" kern="1200" spc="53">
          <a:solidFill>
            <a:schemeClr val="tx1"/>
          </a:solidFill>
          <a:latin typeface="+mn-lt"/>
          <a:ea typeface="+mn-ea"/>
          <a:cs typeface="+mn-cs"/>
        </a:defRPr>
      </a:lvl3pPr>
      <a:lvl4pPr marL="411450" indent="-205725" algn="l" defTabSz="685749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200" kern="1200" spc="53">
          <a:solidFill>
            <a:schemeClr val="tx1"/>
          </a:solidFill>
          <a:latin typeface="+mn-lt"/>
          <a:ea typeface="+mn-ea"/>
          <a:cs typeface="+mn-cs"/>
        </a:defRPr>
      </a:lvl4pPr>
      <a:lvl5pPr marL="411450" indent="0" algn="l" defTabSz="685749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200" kern="1200" spc="53">
          <a:solidFill>
            <a:schemeClr val="tx1"/>
          </a:solidFill>
          <a:latin typeface="+mn-lt"/>
          <a:ea typeface="+mn-ea"/>
          <a:cs typeface="+mn-cs"/>
        </a:defRPr>
      </a:lvl5pPr>
      <a:lvl6pPr marL="1885809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684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558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433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5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49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24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98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73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46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20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995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생동감 넘치는 색채의 벡터 배경">
            <a:extLst>
              <a:ext uri="{FF2B5EF4-FFF2-40B4-BE49-F238E27FC236}">
                <a16:creationId xmlns:a16="http://schemas.microsoft.com/office/drawing/2014/main" id="{56AE0220-FF14-2218-FF77-CA96CF25088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7279"/>
          <a:stretch/>
        </p:blipFill>
        <p:spPr>
          <a:xfrm>
            <a:off x="-1" y="857249"/>
            <a:ext cx="9144001" cy="514350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1074DC7-ABCA-5BD7-9F50-83C8C0994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402" y="1591059"/>
            <a:ext cx="5561136" cy="767687"/>
          </a:xfrm>
        </p:spPr>
        <p:txBody>
          <a:bodyPr anchor="t">
            <a:normAutofit fontScale="90000"/>
          </a:bodyPr>
          <a:lstStyle/>
          <a:p>
            <a:r>
              <a:rPr lang="en-US" altLang="ko-KR" dirty="0"/>
              <a:t>Project-</a:t>
            </a:r>
            <a:r>
              <a:rPr lang="en-US" altLang="ko-KR" dirty="0" err="1"/>
              <a:t>UniPlay</a:t>
            </a:r>
            <a:br>
              <a:rPr lang="en-US" altLang="ko-KR" dirty="0">
                <a:solidFill>
                  <a:srgbClr val="FFFFFF"/>
                </a:solidFill>
              </a:rPr>
            </a:b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F0B4FFA-6BCA-4E2D-560A-99AC0F7C51DB}"/>
              </a:ext>
            </a:extLst>
          </p:cNvPr>
          <p:cNvSpPr txBox="1">
            <a:spLocks/>
          </p:cNvSpPr>
          <p:nvPr/>
        </p:nvSpPr>
        <p:spPr>
          <a:xfrm>
            <a:off x="388405" y="2265473"/>
            <a:ext cx="4054196" cy="767687"/>
          </a:xfrm>
          <a:prstGeom prst="rect">
            <a:avLst/>
          </a:prstGeom>
        </p:spPr>
        <p:txBody>
          <a:bodyPr lIns="82296" tIns="82296" rIns="82296" bIns="6858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0" i="1" kern="1200" spc="7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7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 spc="7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 spc="7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 spc="7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정도윤</a:t>
            </a:r>
            <a:endParaRPr lang="en-US" altLang="ko-KR" sz="1200" dirty="0"/>
          </a:p>
          <a:p>
            <a:r>
              <a:rPr lang="en-US" altLang="ko-KR" sz="1200" dirty="0"/>
              <a:t> https://github.com/YOuO506/Project-Uniplay</a:t>
            </a:r>
          </a:p>
        </p:txBody>
      </p:sp>
    </p:spTree>
    <p:extLst>
      <p:ext uri="{BB962C8B-B14F-4D97-AF65-F5344CB8AC3E}">
        <p14:creationId xmlns:p14="http://schemas.microsoft.com/office/powerpoint/2010/main" val="6705294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43FFC-007E-EF62-8C67-528DDB6E5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E373686-5EF0-9123-810A-1336A66E0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506" y="866775"/>
            <a:ext cx="8374111" cy="491181"/>
          </a:xfrm>
        </p:spPr>
        <p:txBody>
          <a:bodyPr anchor="ctr"/>
          <a:lstStyle/>
          <a:p>
            <a:pPr algn="ctr"/>
            <a:r>
              <a:rPr lang="ko-KR" altLang="en-US" sz="2400" dirty="0"/>
              <a:t>프로젝트 개발 개요</a:t>
            </a: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F5A2274-A147-1075-9484-A9913EAD6B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4944" y="1397750"/>
            <a:ext cx="8374111" cy="5193550"/>
          </a:xfrm>
        </p:spPr>
        <p:txBody>
          <a:bodyPr/>
          <a:lstStyle/>
          <a:p>
            <a:r>
              <a:rPr lang="ko-KR" altLang="en-US" sz="1400" dirty="0"/>
              <a:t>간단한 미니게임 플랫폼을 구현하여 사용자 경험과 게임 기능을 통합</a:t>
            </a:r>
            <a:endParaRPr lang="en-US" altLang="ko-KR" sz="1400" dirty="0"/>
          </a:p>
          <a:p>
            <a:r>
              <a:rPr lang="en-US" altLang="ko-KR" sz="1400" dirty="0"/>
              <a:t>Unity </a:t>
            </a:r>
            <a:r>
              <a:rPr lang="ko-KR" altLang="en-US" sz="1400" dirty="0"/>
              <a:t>기반 미니게임과 </a:t>
            </a:r>
            <a:r>
              <a:rPr lang="en-US" altLang="ko-KR" sz="1400" dirty="0"/>
              <a:t>ASP.NET </a:t>
            </a:r>
            <a:r>
              <a:rPr lang="ko-KR" altLang="en-US" sz="1400" dirty="0"/>
              <a:t>웹을 하나의 </a:t>
            </a:r>
            <a:r>
              <a:rPr lang="en-US" altLang="ko-KR" sz="1400" dirty="0"/>
              <a:t>DB</a:t>
            </a:r>
            <a:r>
              <a:rPr lang="ko-KR" altLang="en-US" sz="1400" dirty="0"/>
              <a:t>로 연동한 플랫폼</a:t>
            </a:r>
            <a:endParaRPr lang="en-US" altLang="ko-KR" sz="1400" dirty="0"/>
          </a:p>
          <a:p>
            <a:endParaRPr lang="en-US" altLang="ko-KR" sz="800" dirty="0"/>
          </a:p>
          <a:p>
            <a:r>
              <a:rPr lang="ko-KR" altLang="en-US" b="1" dirty="0"/>
              <a:t>★</a:t>
            </a:r>
            <a:r>
              <a:rPr lang="ko-KR" altLang="en-US" dirty="0"/>
              <a:t> </a:t>
            </a:r>
            <a:r>
              <a:rPr lang="ko-KR" altLang="en-US" b="1" dirty="0"/>
              <a:t>주요기능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 ◎</a:t>
            </a:r>
            <a:r>
              <a:rPr lang="en-US" altLang="ko-KR" dirty="0"/>
              <a:t> </a:t>
            </a:r>
            <a:r>
              <a:rPr lang="en-US" altLang="ko-KR" b="1" u="sng" dirty="0"/>
              <a:t>Unity</a:t>
            </a:r>
          </a:p>
          <a:p>
            <a:r>
              <a:rPr lang="en-US" altLang="ko-KR" dirty="0"/>
              <a:t> - </a:t>
            </a:r>
            <a:r>
              <a:rPr lang="ko-KR" altLang="en-US" b="1" u="sng" dirty="0"/>
              <a:t>여러 게임의 플레이 기능</a:t>
            </a:r>
            <a:endParaRPr lang="en-US" altLang="ko-KR" b="1" u="sng" dirty="0"/>
          </a:p>
          <a:p>
            <a:r>
              <a:rPr lang="en-US" altLang="ko-KR" dirty="0"/>
              <a:t> - </a:t>
            </a:r>
            <a:r>
              <a:rPr lang="ko-KR" altLang="en-US" b="1" u="sng" dirty="0"/>
              <a:t>로그인</a:t>
            </a:r>
            <a:r>
              <a:rPr lang="en-US" altLang="ko-KR" b="1" u="sng" dirty="0"/>
              <a:t>, </a:t>
            </a:r>
            <a:r>
              <a:rPr lang="ko-KR" altLang="en-US" b="1" u="sng" dirty="0"/>
              <a:t>회원가입 기능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b="1" u="sng" dirty="0"/>
              <a:t>게임 내 </a:t>
            </a:r>
            <a:r>
              <a:rPr lang="ko-KR" altLang="en-US" b="1" u="sng" dirty="0">
                <a:solidFill>
                  <a:srgbClr val="762828"/>
                </a:solidFill>
              </a:rPr>
              <a:t>치장형 아이템</a:t>
            </a:r>
            <a:r>
              <a:rPr lang="en-US" altLang="ko-KR" b="1" u="sng" dirty="0"/>
              <a:t>, </a:t>
            </a:r>
            <a:r>
              <a:rPr lang="ko-KR" altLang="en-US" b="1" u="sng" dirty="0">
                <a:solidFill>
                  <a:srgbClr val="762828"/>
                </a:solidFill>
              </a:rPr>
              <a:t>기능형 아이템</a:t>
            </a:r>
            <a:r>
              <a:rPr lang="ko-KR" altLang="en-US" b="1" u="sng" dirty="0"/>
              <a:t> 사용</a:t>
            </a:r>
            <a:endParaRPr lang="en-US" altLang="ko-KR" b="1" u="sng" dirty="0"/>
          </a:p>
          <a:p>
            <a:endParaRPr lang="en-US" altLang="ko-KR" sz="800" dirty="0"/>
          </a:p>
          <a:p>
            <a:r>
              <a:rPr lang="ko-KR" altLang="en-US" dirty="0"/>
              <a:t> ◎</a:t>
            </a:r>
            <a:r>
              <a:rPr lang="en-US" altLang="ko-KR" dirty="0"/>
              <a:t> </a:t>
            </a:r>
            <a:r>
              <a:rPr lang="en-US" altLang="ko-KR" b="1" u="sng" dirty="0"/>
              <a:t>Web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b="1" u="sng" dirty="0"/>
              <a:t>상점 기능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b="1" u="sng" dirty="0"/>
              <a:t>게임 내 </a:t>
            </a:r>
            <a:r>
              <a:rPr lang="ko-KR" altLang="en-US" b="1" u="sng" dirty="0">
                <a:solidFill>
                  <a:srgbClr val="FEAF00"/>
                </a:solidFill>
              </a:rPr>
              <a:t>재화</a:t>
            </a:r>
            <a:r>
              <a:rPr lang="ko-KR" altLang="en-US" b="1" u="sng" dirty="0"/>
              <a:t>로 구매기능 구현</a:t>
            </a:r>
            <a:endParaRPr lang="en-US" altLang="ko-KR" b="1" u="sng" dirty="0"/>
          </a:p>
          <a:p>
            <a:r>
              <a:rPr lang="en-US" altLang="ko-KR" dirty="0"/>
              <a:t> - </a:t>
            </a:r>
            <a:r>
              <a:rPr lang="ko-KR" altLang="en-US" b="1" u="sng" dirty="0"/>
              <a:t>공지사항</a:t>
            </a:r>
            <a:r>
              <a:rPr lang="en-US" altLang="ko-KR" b="1" u="sng" dirty="0"/>
              <a:t>, </a:t>
            </a:r>
            <a:r>
              <a:rPr lang="ko-KR" altLang="en-US" b="1" u="sng" dirty="0"/>
              <a:t>커뮤니티 게시판 기능</a:t>
            </a:r>
            <a:endParaRPr lang="en-US" altLang="ko-KR" b="1" u="sng" dirty="0"/>
          </a:p>
          <a:p>
            <a:r>
              <a:rPr lang="en-US" altLang="ko-KR" dirty="0"/>
              <a:t> - </a:t>
            </a:r>
            <a:r>
              <a:rPr lang="ko-KR" altLang="en-US" b="1" u="sng" dirty="0"/>
              <a:t>각 게임별 </a:t>
            </a:r>
            <a:r>
              <a:rPr lang="ko-KR" altLang="en-US" b="1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랭킹</a:t>
            </a:r>
            <a:r>
              <a:rPr lang="ko-KR" altLang="en-US" b="1" u="sng" dirty="0"/>
              <a:t> 시스템</a:t>
            </a:r>
            <a:endParaRPr lang="en-US" altLang="ko-KR" b="1" u="sng" dirty="0"/>
          </a:p>
          <a:p>
            <a:endParaRPr lang="en-US" altLang="ko-KR" b="1" u="sng" dirty="0"/>
          </a:p>
          <a:p>
            <a:endParaRPr lang="en-US" altLang="ko-KR" b="1" u="sng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58469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01" y="508090"/>
            <a:ext cx="8364911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BAA160-18A6-38AE-4699-2AD01EF53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02" y="508090"/>
            <a:ext cx="3765887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2086C2F-DE65-1912-D96F-A09990A3E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552" y="868208"/>
            <a:ext cx="8366760" cy="44711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 defTabSz="914400"/>
            <a:r>
              <a:rPr lang="ko-KR" alt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프로젝트 관련 사항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01" y="508090"/>
            <a:ext cx="836676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내용 개체 틀 6">
            <a:extLst>
              <a:ext uri="{FF2B5EF4-FFF2-40B4-BE49-F238E27FC236}">
                <a16:creationId xmlns:a16="http://schemas.microsoft.com/office/drawing/2014/main" id="{C6E8FC48-ED23-D853-6D1C-3F5CAFDA89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0860480"/>
              </p:ext>
            </p:extLst>
          </p:nvPr>
        </p:nvGraphicFramePr>
        <p:xfrm>
          <a:off x="390530" y="1828800"/>
          <a:ext cx="8367713" cy="416099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73734">
                  <a:extLst>
                    <a:ext uri="{9D8B030D-6E8A-4147-A177-3AD203B41FA5}">
                      <a16:colId xmlns:a16="http://schemas.microsoft.com/office/drawing/2014/main" val="2079492480"/>
                    </a:ext>
                  </a:extLst>
                </a:gridCol>
                <a:gridCol w="6593979">
                  <a:extLst>
                    <a:ext uri="{9D8B030D-6E8A-4147-A177-3AD203B41FA5}">
                      <a16:colId xmlns:a16="http://schemas.microsoft.com/office/drawing/2014/main" val="2470038264"/>
                    </a:ext>
                  </a:extLst>
                </a:gridCol>
              </a:tblGrid>
              <a:tr h="780335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2100"/>
                        <a:t>Project  </a:t>
                      </a:r>
                      <a:r>
                        <a:rPr lang="ko-KR" altLang="en-US" sz="2100"/>
                        <a:t>명</a:t>
                      </a:r>
                      <a:endParaRPr lang="en-US" altLang="ko-KR" sz="2100"/>
                    </a:p>
                  </a:txBody>
                  <a:tcPr marL="104852" marR="104852" marT="52426" marB="52426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/>
                        <a:t>게임을 활용한 </a:t>
                      </a:r>
                      <a:r>
                        <a:rPr lang="en-US" altLang="ko-KR" sz="2100"/>
                        <a:t>Web </a:t>
                      </a:r>
                      <a:r>
                        <a:rPr lang="ko-KR" altLang="en-US" sz="2100"/>
                        <a:t>상점 구현</a:t>
                      </a:r>
                      <a:endParaRPr lang="ko-KR" altLang="en-US" sz="2100" dirty="0"/>
                    </a:p>
                  </a:txBody>
                  <a:tcPr marL="104852" marR="104852" marT="52426" marB="52426" anchor="ctr"/>
                </a:tc>
                <a:extLst>
                  <a:ext uri="{0D108BD9-81ED-4DB2-BD59-A6C34878D82A}">
                    <a16:rowId xmlns:a16="http://schemas.microsoft.com/office/drawing/2014/main" val="4212056596"/>
                  </a:ext>
                </a:extLst>
              </a:tr>
              <a:tr h="10396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/>
                        <a:t>Project </a:t>
                      </a:r>
                      <a:r>
                        <a:rPr lang="ko-KR" altLang="en-US" sz="2100"/>
                        <a:t>기능</a:t>
                      </a:r>
                    </a:p>
                  </a:txBody>
                  <a:tcPr marL="104852" marR="104852" marT="52426" marB="52426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dirty="0"/>
                        <a:t>Unity</a:t>
                      </a:r>
                      <a:r>
                        <a:rPr lang="ko-KR" altLang="en-US" sz="2100" dirty="0"/>
                        <a:t>로 여러 게임이 가능한 플랫폼 구현</a:t>
                      </a:r>
                      <a:r>
                        <a:rPr lang="en-US" altLang="ko-KR" sz="2100" dirty="0"/>
                        <a:t> </a:t>
                      </a:r>
                      <a:br>
                        <a:rPr lang="en-US" altLang="ko-KR" sz="2100" dirty="0"/>
                      </a:br>
                      <a:r>
                        <a:rPr lang="en-US" altLang="ko-KR" sz="2100" dirty="0"/>
                        <a:t>ASP.NET </a:t>
                      </a:r>
                      <a:r>
                        <a:rPr lang="ko-KR" altLang="en-US" sz="2100" dirty="0"/>
                        <a:t>기반 웹 사이트와 연동</a:t>
                      </a:r>
                    </a:p>
                  </a:txBody>
                  <a:tcPr marL="104852" marR="104852" marT="52426" marB="52426" anchor="ctr"/>
                </a:tc>
                <a:extLst>
                  <a:ext uri="{0D108BD9-81ED-4DB2-BD59-A6C34878D82A}">
                    <a16:rowId xmlns:a16="http://schemas.microsoft.com/office/drawing/2014/main" val="70563914"/>
                  </a:ext>
                </a:extLst>
              </a:tr>
              <a:tr h="7803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/>
                        <a:t>지도 교수님</a:t>
                      </a:r>
                    </a:p>
                  </a:txBody>
                  <a:tcPr marL="104852" marR="104852" marT="52426" marB="52426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/>
                        <a:t>현승렬 교수님</a:t>
                      </a:r>
                      <a:endParaRPr lang="ko-KR" altLang="en-US" sz="2100" dirty="0"/>
                    </a:p>
                  </a:txBody>
                  <a:tcPr marL="104852" marR="104852" marT="52426" marB="52426" anchor="ctr"/>
                </a:tc>
                <a:extLst>
                  <a:ext uri="{0D108BD9-81ED-4DB2-BD59-A6C34878D82A}">
                    <a16:rowId xmlns:a16="http://schemas.microsoft.com/office/drawing/2014/main" val="379330739"/>
                  </a:ext>
                </a:extLst>
              </a:tr>
              <a:tr h="7803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/>
                        <a:t>학번</a:t>
                      </a:r>
                    </a:p>
                  </a:txBody>
                  <a:tcPr marL="104852" marR="104852" marT="52426" marB="52426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dirty="0"/>
                        <a:t>42125030</a:t>
                      </a:r>
                    </a:p>
                  </a:txBody>
                  <a:tcPr marL="104852" marR="104852" marT="52426" marB="52426" anchor="ctr"/>
                </a:tc>
                <a:extLst>
                  <a:ext uri="{0D108BD9-81ED-4DB2-BD59-A6C34878D82A}">
                    <a16:rowId xmlns:a16="http://schemas.microsoft.com/office/drawing/2014/main" val="1351860901"/>
                  </a:ext>
                </a:extLst>
              </a:tr>
              <a:tr h="7803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/>
                        <a:t>성명</a:t>
                      </a:r>
                    </a:p>
                  </a:txBody>
                  <a:tcPr marL="104852" marR="104852" marT="52426" marB="52426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dirty="0"/>
                        <a:t>정도윤</a:t>
                      </a:r>
                      <a:endParaRPr lang="en-US" altLang="ko-KR" sz="2100" dirty="0"/>
                    </a:p>
                  </a:txBody>
                  <a:tcPr marL="104852" marR="104852" marT="52426" marB="52426" anchor="ctr"/>
                </a:tc>
                <a:extLst>
                  <a:ext uri="{0D108BD9-81ED-4DB2-BD59-A6C34878D82A}">
                    <a16:rowId xmlns:a16="http://schemas.microsoft.com/office/drawing/2014/main" val="3965687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1713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5BABA-3032-7175-F1E0-B86B2F3A3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430463E-BF13-AA97-F0C6-91EAB27EA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944" y="839285"/>
            <a:ext cx="8374111" cy="491181"/>
          </a:xfrm>
        </p:spPr>
        <p:txBody>
          <a:bodyPr anchor="ctr"/>
          <a:lstStyle/>
          <a:p>
            <a:pPr algn="ctr"/>
            <a:r>
              <a:rPr lang="ko-KR" altLang="en-US" sz="2400" dirty="0"/>
              <a:t>개발 환경</a:t>
            </a:r>
          </a:p>
        </p:txBody>
      </p:sp>
      <p:graphicFrame>
        <p:nvGraphicFramePr>
          <p:cNvPr id="13" name="내용 개체 틀 6">
            <a:extLst>
              <a:ext uri="{FF2B5EF4-FFF2-40B4-BE49-F238E27FC236}">
                <a16:creationId xmlns:a16="http://schemas.microsoft.com/office/drawing/2014/main" id="{92AF201F-2BD9-42D0-88DC-AF4B3798FB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5851920"/>
              </p:ext>
            </p:extLst>
          </p:nvPr>
        </p:nvGraphicFramePr>
        <p:xfrm>
          <a:off x="165104" y="1739900"/>
          <a:ext cx="8813796" cy="4495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25337">
                  <a:extLst>
                    <a:ext uri="{9D8B030D-6E8A-4147-A177-3AD203B41FA5}">
                      <a16:colId xmlns:a16="http://schemas.microsoft.com/office/drawing/2014/main" val="2079492480"/>
                    </a:ext>
                  </a:extLst>
                </a:gridCol>
                <a:gridCol w="6588459">
                  <a:extLst>
                    <a:ext uri="{9D8B030D-6E8A-4147-A177-3AD203B41FA5}">
                      <a16:colId xmlns:a16="http://schemas.microsoft.com/office/drawing/2014/main" val="2470038264"/>
                    </a:ext>
                  </a:extLst>
                </a:gridCol>
              </a:tblGrid>
              <a:tr h="89916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600" dirty="0"/>
                        <a:t>OS</a:t>
                      </a:r>
                    </a:p>
                  </a:txBody>
                  <a:tcPr marL="72181" marR="72181" marT="36090" marB="3609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Window 10</a:t>
                      </a:r>
                      <a:endParaRPr lang="ko-KR" altLang="en-US" sz="1600" dirty="0"/>
                    </a:p>
                  </a:txBody>
                  <a:tcPr marL="72181" marR="72181" marT="36090" marB="36090" anchor="ctr"/>
                </a:tc>
                <a:extLst>
                  <a:ext uri="{0D108BD9-81ED-4DB2-BD59-A6C34878D82A}">
                    <a16:rowId xmlns:a16="http://schemas.microsoft.com/office/drawing/2014/main" val="4212056596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SERVER</a:t>
                      </a:r>
                      <a:endParaRPr lang="ko-KR" altLang="en-US" sz="1600" dirty="0"/>
                    </a:p>
                  </a:txBody>
                  <a:tcPr marL="72181" marR="72181" marT="36090" marB="3609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MSSQL Server 2022</a:t>
                      </a:r>
                      <a:endParaRPr lang="ko-KR" altLang="en-US" sz="1600" dirty="0"/>
                    </a:p>
                  </a:txBody>
                  <a:tcPr marL="72181" marR="72181" marT="36090" marB="36090" anchor="ctr"/>
                </a:tc>
                <a:extLst>
                  <a:ext uri="{0D108BD9-81ED-4DB2-BD59-A6C34878D82A}">
                    <a16:rowId xmlns:a16="http://schemas.microsoft.com/office/drawing/2014/main" val="70563914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IDE</a:t>
                      </a:r>
                      <a:endParaRPr lang="ko-KR" altLang="en-US" sz="1600" dirty="0"/>
                    </a:p>
                  </a:txBody>
                  <a:tcPr marL="72181" marR="72181" marT="36090" marB="3609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Unity, Visual Studio, SSMS</a:t>
                      </a:r>
                      <a:endParaRPr lang="ko-KR" altLang="en-US" sz="1600" dirty="0"/>
                    </a:p>
                  </a:txBody>
                  <a:tcPr marL="72181" marR="72181" marT="36090" marB="36090" anchor="ctr"/>
                </a:tc>
                <a:extLst>
                  <a:ext uri="{0D108BD9-81ED-4DB2-BD59-A6C34878D82A}">
                    <a16:rowId xmlns:a16="http://schemas.microsoft.com/office/drawing/2014/main" val="379330739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언어</a:t>
                      </a:r>
                    </a:p>
                  </a:txBody>
                  <a:tcPr marL="72181" marR="72181" marT="36090" marB="3609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C#, HTML, SQL</a:t>
                      </a:r>
                      <a:endParaRPr lang="ko-KR" altLang="en-US" sz="1600" dirty="0"/>
                    </a:p>
                  </a:txBody>
                  <a:tcPr marL="72181" marR="72181" marT="36090" marB="36090" anchor="ctr"/>
                </a:tc>
                <a:extLst>
                  <a:ext uri="{0D108BD9-81ED-4DB2-BD59-A6C34878D82A}">
                    <a16:rowId xmlns:a16="http://schemas.microsoft.com/office/drawing/2014/main" val="1351860901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디자인 도구</a:t>
                      </a:r>
                    </a:p>
                  </a:txBody>
                  <a:tcPr marL="72181" marR="72181" marT="36090" marB="3609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Adobe Photoshop CS6, </a:t>
                      </a:r>
                      <a:r>
                        <a:rPr lang="en-US" altLang="ko-KR" sz="1600" dirty="0" err="1"/>
                        <a:t>Aseprite</a:t>
                      </a:r>
                      <a:r>
                        <a:rPr lang="en-US" altLang="ko-KR" sz="1600" dirty="0"/>
                        <a:t> </a:t>
                      </a:r>
                      <a:endParaRPr lang="ko-KR" altLang="en-US" sz="1600" dirty="0"/>
                    </a:p>
                  </a:txBody>
                  <a:tcPr marL="72181" marR="72181" marT="36090" marB="36090" anchor="ctr"/>
                </a:tc>
                <a:extLst>
                  <a:ext uri="{0D108BD9-81ED-4DB2-BD59-A6C34878D82A}">
                    <a16:rowId xmlns:a16="http://schemas.microsoft.com/office/drawing/2014/main" val="3965687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092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F6613-9ED1-4C9A-D016-8E9463E3B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8DBE3AAB-0A5D-594B-0FB6-601C0AF39D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3417" y="721928"/>
            <a:ext cx="8357165" cy="594619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B8AFFC5-4CA4-22C5-C844-5A02E081126C}"/>
              </a:ext>
            </a:extLst>
          </p:cNvPr>
          <p:cNvSpPr txBox="1"/>
          <p:nvPr/>
        </p:nvSpPr>
        <p:spPr>
          <a:xfrm>
            <a:off x="3577470" y="1798465"/>
            <a:ext cx="13019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0070C0"/>
                </a:solidFill>
              </a:rPr>
              <a:t>상점 아이템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A4165B-BC36-22A1-7377-99D0B4CB09AA}"/>
              </a:ext>
            </a:extLst>
          </p:cNvPr>
          <p:cNvSpPr txBox="1"/>
          <p:nvPr/>
        </p:nvSpPr>
        <p:spPr>
          <a:xfrm>
            <a:off x="6404278" y="1858599"/>
            <a:ext cx="13324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0070C0"/>
                </a:solidFill>
              </a:rPr>
              <a:t>기능형</a:t>
            </a:r>
            <a:r>
              <a:rPr lang="en-US" altLang="ko-KR" sz="1100" dirty="0">
                <a:solidFill>
                  <a:srgbClr val="0070C0"/>
                </a:solidFill>
              </a:rPr>
              <a:t>, </a:t>
            </a:r>
            <a:r>
              <a:rPr lang="ko-KR" altLang="en-US" sz="1100" dirty="0">
                <a:solidFill>
                  <a:srgbClr val="0070C0"/>
                </a:solidFill>
              </a:rPr>
              <a:t>치장형 구분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621265-FD5D-2954-8C94-25368085E6BC}"/>
              </a:ext>
            </a:extLst>
          </p:cNvPr>
          <p:cNvSpPr txBox="1"/>
          <p:nvPr/>
        </p:nvSpPr>
        <p:spPr>
          <a:xfrm>
            <a:off x="5627856" y="744800"/>
            <a:ext cx="17235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0070C0"/>
                </a:solidFill>
              </a:rPr>
              <a:t>사용자의 보유 아이템 관리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9C18B0-B10D-994F-80A5-AE193DA4B644}"/>
              </a:ext>
            </a:extLst>
          </p:cNvPr>
          <p:cNvSpPr txBox="1"/>
          <p:nvPr/>
        </p:nvSpPr>
        <p:spPr>
          <a:xfrm>
            <a:off x="3704746" y="3429000"/>
            <a:ext cx="8707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0070C0"/>
                </a:solidFill>
              </a:rPr>
              <a:t>사용자 관리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80926D-92DC-D82B-E15E-08C1AB6F4202}"/>
              </a:ext>
            </a:extLst>
          </p:cNvPr>
          <p:cNvSpPr txBox="1"/>
          <p:nvPr/>
        </p:nvSpPr>
        <p:spPr>
          <a:xfrm>
            <a:off x="3708587" y="4539136"/>
            <a:ext cx="17283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0070C0"/>
                </a:solidFill>
              </a:rPr>
              <a:t>사용자 등급 </a:t>
            </a:r>
            <a:r>
              <a:rPr lang="en-US" altLang="ko-KR" sz="1100" dirty="0">
                <a:solidFill>
                  <a:srgbClr val="0070C0"/>
                </a:solidFill>
              </a:rPr>
              <a:t>(</a:t>
            </a:r>
            <a:r>
              <a:rPr lang="ko-KR" altLang="en-US" sz="1100" dirty="0">
                <a:solidFill>
                  <a:srgbClr val="0070C0"/>
                </a:solidFill>
              </a:rPr>
              <a:t>관리자</a:t>
            </a:r>
            <a:r>
              <a:rPr lang="en-US" altLang="ko-KR" sz="1100" dirty="0">
                <a:solidFill>
                  <a:srgbClr val="0070C0"/>
                </a:solidFill>
              </a:rPr>
              <a:t>, </a:t>
            </a:r>
            <a:r>
              <a:rPr lang="ko-KR" altLang="en-US" sz="1100" dirty="0">
                <a:solidFill>
                  <a:srgbClr val="0070C0"/>
                </a:solidFill>
              </a:rPr>
              <a:t>일반</a:t>
            </a:r>
            <a:r>
              <a:rPr lang="en-US" altLang="ko-KR" sz="1100" dirty="0">
                <a:solidFill>
                  <a:srgbClr val="0070C0"/>
                </a:solidFill>
              </a:rPr>
              <a:t>)</a:t>
            </a:r>
            <a:endParaRPr lang="ko-KR" altLang="en-US" sz="1100" dirty="0">
              <a:solidFill>
                <a:srgbClr val="0070C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C984B5-9A77-6045-539B-4854F7AE7E64}"/>
              </a:ext>
            </a:extLst>
          </p:cNvPr>
          <p:cNvSpPr txBox="1"/>
          <p:nvPr/>
        </p:nvSpPr>
        <p:spPr>
          <a:xfrm>
            <a:off x="3741217" y="5329439"/>
            <a:ext cx="10005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0070C0"/>
                </a:solidFill>
              </a:rPr>
              <a:t>공지사항 관리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E54E0D-716D-7609-F3D9-4FDE8FB53651}"/>
              </a:ext>
            </a:extLst>
          </p:cNvPr>
          <p:cNvSpPr txBox="1"/>
          <p:nvPr/>
        </p:nvSpPr>
        <p:spPr>
          <a:xfrm>
            <a:off x="6423734" y="5339167"/>
            <a:ext cx="7409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0070C0"/>
                </a:solidFill>
              </a:rPr>
              <a:t>랭킹 관리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7322F6-E1D6-45E7-5E33-4CC1551AD279}"/>
              </a:ext>
            </a:extLst>
          </p:cNvPr>
          <p:cNvSpPr txBox="1"/>
          <p:nvPr/>
        </p:nvSpPr>
        <p:spPr>
          <a:xfrm>
            <a:off x="6317653" y="3012176"/>
            <a:ext cx="7409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0070C0"/>
                </a:solidFill>
              </a:rPr>
              <a:t>게임 관리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4DFC21-FFEA-4909-364E-BD704E2619BD}"/>
              </a:ext>
            </a:extLst>
          </p:cNvPr>
          <p:cNvSpPr txBox="1"/>
          <p:nvPr/>
        </p:nvSpPr>
        <p:spPr>
          <a:xfrm>
            <a:off x="6341510" y="4361726"/>
            <a:ext cx="12971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0070C0"/>
                </a:solidFill>
              </a:rPr>
              <a:t>게임 카테고리 구분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953573-7BE6-5FD8-EAAB-5AA393DC82B6}"/>
              </a:ext>
            </a:extLst>
          </p:cNvPr>
          <p:cNvSpPr txBox="1"/>
          <p:nvPr/>
        </p:nvSpPr>
        <p:spPr>
          <a:xfrm>
            <a:off x="374650" y="744800"/>
            <a:ext cx="1431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&lt;ERD&gt;</a:t>
            </a:r>
            <a:endParaRPr lang="ko-KR" altLang="en-US" sz="28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0E1596-84F3-5AE4-FBB0-1C31829A6428}"/>
              </a:ext>
            </a:extLst>
          </p:cNvPr>
          <p:cNvSpPr txBox="1"/>
          <p:nvPr/>
        </p:nvSpPr>
        <p:spPr>
          <a:xfrm>
            <a:off x="1415563" y="991021"/>
            <a:ext cx="14269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0070C0"/>
                </a:solidFill>
              </a:rPr>
              <a:t>커뮤니티 게시판 관리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A7CC20-AD69-93E4-C533-9F655FBB77D8}"/>
              </a:ext>
            </a:extLst>
          </p:cNvPr>
          <p:cNvSpPr txBox="1"/>
          <p:nvPr/>
        </p:nvSpPr>
        <p:spPr>
          <a:xfrm>
            <a:off x="1121254" y="3370634"/>
            <a:ext cx="17235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0070C0"/>
                </a:solidFill>
              </a:rPr>
              <a:t>커뮤니티 게시판 댓글 관리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023DA7-3315-CDB7-8CC0-8F8AEFC70F2D}"/>
              </a:ext>
            </a:extLst>
          </p:cNvPr>
          <p:cNvSpPr txBox="1"/>
          <p:nvPr/>
        </p:nvSpPr>
        <p:spPr>
          <a:xfrm>
            <a:off x="1085516" y="5229849"/>
            <a:ext cx="18533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0070C0"/>
                </a:solidFill>
              </a:rPr>
              <a:t>커뮤니티 게시판 좋아요 관리</a:t>
            </a:r>
          </a:p>
        </p:txBody>
      </p:sp>
    </p:spTree>
    <p:extLst>
      <p:ext uri="{BB962C8B-B14F-4D97-AF65-F5344CB8AC3E}">
        <p14:creationId xmlns:p14="http://schemas.microsoft.com/office/powerpoint/2010/main" val="3788292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2261B7F-DEF0-FA77-3072-A3D7A178A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75" r="12575"/>
          <a:stretch/>
        </p:blipFill>
        <p:spPr>
          <a:xfrm>
            <a:off x="20" y="10"/>
            <a:ext cx="9141694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65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01" y="508090"/>
            <a:ext cx="8364911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07F19-0B10-BFAC-14DC-D5D6F9A13F2D}"/>
              </a:ext>
            </a:extLst>
          </p:cNvPr>
          <p:cNvSpPr txBox="1"/>
          <p:nvPr/>
        </p:nvSpPr>
        <p:spPr>
          <a:xfrm>
            <a:off x="390906" y="685309"/>
            <a:ext cx="8366760" cy="11155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atinLnBrk="0">
              <a:spcBef>
                <a:spcPct val="0"/>
              </a:spcBef>
              <a:spcAft>
                <a:spcPts val="600"/>
              </a:spcAft>
            </a:pPr>
            <a:r>
              <a:rPr lang="en-US" altLang="ko-KR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Unity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01" y="508090"/>
            <a:ext cx="8364911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9A50D83-CD41-769D-D801-E842A06F3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5676" y="2336617"/>
            <a:ext cx="4134879" cy="24254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CAB615-649B-DBFD-6A35-1D594A849CA5}"/>
              </a:ext>
            </a:extLst>
          </p:cNvPr>
          <p:cNvSpPr txBox="1"/>
          <p:nvPr/>
        </p:nvSpPr>
        <p:spPr>
          <a:xfrm>
            <a:off x="5220459" y="1342678"/>
            <a:ext cx="3532635" cy="48539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atinLnBrk="0">
              <a:spcAft>
                <a:spcPts val="600"/>
              </a:spcAft>
            </a:pPr>
            <a:r>
              <a: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◎ </a:t>
            </a:r>
            <a:r>
              <a:rPr lang="en-US" altLang="ko-KR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Unity</a:t>
            </a:r>
            <a:r>
              <a: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메인</a:t>
            </a:r>
            <a:endParaRPr lang="en-US" altLang="ko-KR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실행 시 메인 화면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통합형 구조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BB9677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타이틀 이미지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이미지 및 </a:t>
            </a:r>
            <a:r>
              <a:rPr lang="ko-KR" altLang="en-US" sz="1400" dirty="0" err="1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게임명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8D7E9A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공지사항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web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공지사항 페이지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이동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로그인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로그인 및 회원가입 화면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97A0BB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게임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게임 </a:t>
            </a:r>
            <a:r>
              <a:rPr lang="ko-KR" altLang="en-US" sz="1400" dirty="0" err="1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클릭시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해당 게임으로 이동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99AB93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상점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web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상점 페이지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이동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99AB93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랭킹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web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랭킹 페이지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이동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99AB93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인벤토리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web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에서 산 아이템 확인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4269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E89D3-EF5B-58FE-D055-6580F9221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191518-C6F8-F9DE-6BA0-EA42E9A8CA32}"/>
              </a:ext>
            </a:extLst>
          </p:cNvPr>
          <p:cNvSpPr txBox="1"/>
          <p:nvPr/>
        </p:nvSpPr>
        <p:spPr>
          <a:xfrm>
            <a:off x="390906" y="685309"/>
            <a:ext cx="8366760" cy="11155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atinLnBrk="0">
              <a:spcBef>
                <a:spcPct val="0"/>
              </a:spcBef>
              <a:spcAft>
                <a:spcPts val="600"/>
              </a:spcAft>
            </a:pPr>
            <a:r>
              <a:rPr lang="en-US" altLang="ko-KR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Unity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C9D3BD7-8B30-954D-F979-1A2C2DD326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4405" y="2216274"/>
            <a:ext cx="4138104" cy="24254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46FF46-8F7F-E5B6-9511-8A4333A925C8}"/>
              </a:ext>
            </a:extLst>
          </p:cNvPr>
          <p:cNvSpPr txBox="1"/>
          <p:nvPr/>
        </p:nvSpPr>
        <p:spPr>
          <a:xfrm>
            <a:off x="4988859" y="1800877"/>
            <a:ext cx="3764235" cy="48539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atinLnBrk="0">
              <a:spcAft>
                <a:spcPts val="600"/>
              </a:spcAft>
            </a:pPr>
            <a:r>
              <a: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◎ 로그인 및 회원가입</a:t>
            </a:r>
            <a:endParaRPr lang="en-US" altLang="ko-KR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▶ 로그인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ID, PWD : ID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및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PWD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입력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762828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Login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버튼 클릭 시 로그인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762828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Create New Account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Web</a:t>
            </a:r>
          </a:p>
          <a:p>
            <a:pPr latinLnBrk="0">
              <a:spcAft>
                <a:spcPts val="600"/>
              </a:spcAft>
            </a:pP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                                     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회원가입으로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250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60082-2925-A6DC-059D-02D169FCE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65F9D1-1093-407F-9AF2-222F8F450388}"/>
              </a:ext>
            </a:extLst>
          </p:cNvPr>
          <p:cNvSpPr txBox="1"/>
          <p:nvPr/>
        </p:nvSpPr>
        <p:spPr>
          <a:xfrm>
            <a:off x="390906" y="685309"/>
            <a:ext cx="8366760" cy="11155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atinLnBrk="0">
              <a:spcBef>
                <a:spcPct val="0"/>
              </a:spcBef>
              <a:spcAft>
                <a:spcPts val="600"/>
              </a:spcAft>
            </a:pPr>
            <a:r>
              <a:rPr lang="en-US" altLang="ko-KR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347357-A973-C0DD-45E7-F07655DED570}"/>
              </a:ext>
            </a:extLst>
          </p:cNvPr>
          <p:cNvSpPr txBox="1"/>
          <p:nvPr/>
        </p:nvSpPr>
        <p:spPr>
          <a:xfrm>
            <a:off x="5220459" y="1800877"/>
            <a:ext cx="3532635" cy="48539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atinLnBrk="0">
              <a:spcAft>
                <a:spcPts val="600"/>
              </a:spcAft>
            </a:pPr>
            <a:r>
              <a: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◎ </a:t>
            </a:r>
            <a:r>
              <a:rPr lang="ko-KR" altLang="en-US" dirty="0">
                <a:solidFill>
                  <a:srgbClr val="888E6A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인벤토리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상점에서 구매한 아이템을 관리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좌측 버튼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각 게임별 아이템 태그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9C808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Costume </a:t>
            </a:r>
            <a:r>
              <a:rPr lang="ko-KR" altLang="en-US" sz="1400" dirty="0">
                <a:solidFill>
                  <a:srgbClr val="9C808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버튼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치장형 아이템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9C808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Action</a:t>
            </a:r>
            <a:r>
              <a:rPr lang="ko-KR" altLang="en-US" sz="1400" dirty="0">
                <a:solidFill>
                  <a:srgbClr val="9C808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버튼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기능형 아이템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6C6066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아이템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상품 사진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6C6066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Use </a:t>
            </a:r>
            <a:r>
              <a:rPr lang="ko-KR" altLang="en-US" sz="1400" dirty="0">
                <a:solidFill>
                  <a:srgbClr val="6C6066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버튼</a:t>
            </a:r>
            <a:r>
              <a:rPr lang="en-US" altLang="ko-KR" sz="1400" dirty="0">
                <a:solidFill>
                  <a:srgbClr val="6C6066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: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아이템의 활성화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ED1F934-5145-B984-6669-29B316FF53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5094" y="2216274"/>
            <a:ext cx="4281514" cy="250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756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D3782-159D-6CB7-1B24-EB2DFAAC7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B90DF3-1C6B-D764-032E-2FE5724681A5}"/>
              </a:ext>
            </a:extLst>
          </p:cNvPr>
          <p:cNvSpPr txBox="1"/>
          <p:nvPr/>
        </p:nvSpPr>
        <p:spPr>
          <a:xfrm>
            <a:off x="390906" y="685309"/>
            <a:ext cx="8366760" cy="11155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atinLnBrk="0">
              <a:spcBef>
                <a:spcPct val="0"/>
              </a:spcBef>
              <a:spcAft>
                <a:spcPts val="600"/>
              </a:spcAft>
            </a:pPr>
            <a:r>
              <a:rPr lang="en-US" altLang="ko-KR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9B7079-DD18-32A3-A643-7B28457C9E48}"/>
              </a:ext>
            </a:extLst>
          </p:cNvPr>
          <p:cNvSpPr txBox="1"/>
          <p:nvPr/>
        </p:nvSpPr>
        <p:spPr>
          <a:xfrm>
            <a:off x="5003801" y="1546917"/>
            <a:ext cx="3987800" cy="48539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atinLnBrk="0">
              <a:spcAft>
                <a:spcPts val="600"/>
              </a:spcAft>
            </a:pPr>
            <a:r>
              <a: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◎ 게임</a:t>
            </a:r>
            <a:r>
              <a:rPr lang="en-US" altLang="ko-KR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1 – </a:t>
            </a:r>
            <a:r>
              <a: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탄막 슈팅 게임</a:t>
            </a:r>
            <a:endParaRPr lang="en-US" altLang="ko-KR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총알을 피하며 적을 쓰러뜨리고 </a:t>
            </a:r>
            <a:b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  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인 게임 </a:t>
            </a:r>
            <a:r>
              <a:rPr lang="ko-KR" altLang="en-US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아이템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및</a:t>
            </a:r>
            <a:r>
              <a:rPr lang="ko-KR" alt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ko-KR" altLang="en-US" sz="1400" dirty="0">
                <a:solidFill>
                  <a:srgbClr val="FEAF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코인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점수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를 획득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기본 목숨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3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개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모두 소모 시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   </a:t>
            </a:r>
            <a:r>
              <a:rPr lang="en-US" altLang="ko-KR" sz="1400" dirty="0">
                <a:solidFill>
                  <a:srgbClr val="C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Retry</a:t>
            </a:r>
            <a:r>
              <a:rPr lang="ko-KR" altLang="en-US" sz="1400" dirty="0">
                <a:solidFill>
                  <a:srgbClr val="C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버튼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과</a:t>
            </a:r>
            <a:r>
              <a:rPr lang="ko-KR" altLang="en-US" sz="1400" dirty="0">
                <a:solidFill>
                  <a:srgbClr val="C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en-US" altLang="ko-KR" sz="1400" dirty="0">
                <a:solidFill>
                  <a:srgbClr val="C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Exit</a:t>
            </a:r>
            <a:r>
              <a:rPr lang="ko-KR" altLang="en-US" sz="1400" dirty="0">
                <a:solidFill>
                  <a:srgbClr val="C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버튼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및 </a:t>
            </a:r>
            <a:r>
              <a:rPr lang="ko-KR" alt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최종 점수 표시</a:t>
            </a:r>
            <a:endParaRPr lang="en-US" altLang="ko-KR" sz="1400" dirty="0">
              <a:solidFill>
                <a:schemeClr val="accent4">
                  <a:lumMod val="60000"/>
                  <a:lumOff val="4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8570843-8ED8-EBE9-6B51-19C8CF474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941" y="2216274"/>
            <a:ext cx="4275820" cy="250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70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24809-82BC-5743-B04A-05493B42C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00B1CE-3ED9-91E2-565F-AFC0BDADEDDA}"/>
              </a:ext>
            </a:extLst>
          </p:cNvPr>
          <p:cNvSpPr txBox="1"/>
          <p:nvPr/>
        </p:nvSpPr>
        <p:spPr>
          <a:xfrm>
            <a:off x="390906" y="685309"/>
            <a:ext cx="8366760" cy="11155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atinLnBrk="0">
              <a:spcBef>
                <a:spcPct val="0"/>
              </a:spcBef>
              <a:spcAft>
                <a:spcPts val="600"/>
              </a:spcAft>
            </a:pPr>
            <a:r>
              <a:rPr lang="en-US" altLang="ko-KR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C9367C-1058-8277-74F2-F22366898001}"/>
              </a:ext>
            </a:extLst>
          </p:cNvPr>
          <p:cNvSpPr txBox="1"/>
          <p:nvPr/>
        </p:nvSpPr>
        <p:spPr>
          <a:xfrm>
            <a:off x="4991100" y="1534177"/>
            <a:ext cx="3761994" cy="48539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atinLnBrk="0">
              <a:spcAft>
                <a:spcPts val="600"/>
              </a:spcAft>
            </a:pPr>
            <a:r>
              <a: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◎ 게임</a:t>
            </a:r>
            <a:r>
              <a:rPr lang="en-US" altLang="ko-KR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 – </a:t>
            </a:r>
            <a:r>
              <a: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런 게임</a:t>
            </a:r>
            <a:endParaRPr lang="en-US" altLang="ko-KR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장애물을 피해 달리면서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  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인 게임 </a:t>
            </a:r>
            <a:r>
              <a:rPr lang="ko-KR" altLang="en-US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아이템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및 </a:t>
            </a:r>
            <a:r>
              <a:rPr lang="ko-KR" altLang="en-US" sz="1400" dirty="0">
                <a:solidFill>
                  <a:srgbClr val="FEAF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코인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획득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거리에 비례해서 </a:t>
            </a:r>
            <a:r>
              <a:rPr lang="ko-KR" alt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점수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측정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C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장애물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에 부딪히면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게임 오버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게임 오버 시 </a:t>
            </a:r>
            <a:r>
              <a:rPr lang="en-US" altLang="ko-KR" sz="1400" dirty="0">
                <a:solidFill>
                  <a:srgbClr val="C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Retry</a:t>
            </a:r>
            <a:r>
              <a:rPr lang="ko-KR" altLang="en-US" sz="1400" dirty="0">
                <a:solidFill>
                  <a:srgbClr val="C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버튼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과 </a:t>
            </a:r>
            <a:r>
              <a:rPr lang="en-US" altLang="ko-KR" sz="1400" dirty="0">
                <a:solidFill>
                  <a:srgbClr val="C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Exit</a:t>
            </a:r>
            <a:r>
              <a:rPr lang="ko-KR" altLang="en-US" sz="1400" dirty="0">
                <a:solidFill>
                  <a:srgbClr val="C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버튼</a:t>
            </a:r>
            <a:endParaRPr lang="en-US" altLang="ko-KR" sz="1400" dirty="0">
              <a:solidFill>
                <a:srgbClr val="C00000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  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및 </a:t>
            </a:r>
            <a:r>
              <a:rPr lang="ko-KR" alt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최종 점수 표시</a:t>
            </a:r>
            <a:endParaRPr lang="en-US" altLang="ko-KR" sz="1400" dirty="0">
              <a:solidFill>
                <a:schemeClr val="accent4">
                  <a:lumMod val="60000"/>
                  <a:lumOff val="4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5520052-A6E1-B894-48A2-1853614D8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941" y="2216274"/>
            <a:ext cx="4275820" cy="250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595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861A6-6B1A-0A87-92F4-C72E902C9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1E3B66-C9CB-9081-8965-809FCE03FCB3}"/>
              </a:ext>
            </a:extLst>
          </p:cNvPr>
          <p:cNvSpPr txBox="1"/>
          <p:nvPr/>
        </p:nvSpPr>
        <p:spPr>
          <a:xfrm>
            <a:off x="390906" y="685309"/>
            <a:ext cx="8366760" cy="11155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atinLnBrk="0">
              <a:spcBef>
                <a:spcPct val="0"/>
              </a:spcBef>
              <a:spcAft>
                <a:spcPts val="600"/>
              </a:spcAft>
            </a:pPr>
            <a:r>
              <a:rPr lang="en-US" altLang="ko-KR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40ACDF-B089-A5C6-57FC-2DA88B5566EB}"/>
              </a:ext>
            </a:extLst>
          </p:cNvPr>
          <p:cNvSpPr txBox="1"/>
          <p:nvPr/>
        </p:nvSpPr>
        <p:spPr>
          <a:xfrm>
            <a:off x="4978399" y="1511981"/>
            <a:ext cx="3774695" cy="48539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atinLnBrk="0">
              <a:spcAft>
                <a:spcPts val="600"/>
              </a:spcAft>
            </a:pPr>
            <a:r>
              <a: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◎ 게임</a:t>
            </a:r>
            <a:r>
              <a:rPr lang="en-US" altLang="ko-KR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3 – </a:t>
            </a:r>
            <a:r>
              <a: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수박 게임</a:t>
            </a:r>
            <a:endParaRPr lang="en-US" altLang="ko-KR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한정된 공간 안에서 </a:t>
            </a:r>
            <a:r>
              <a:rPr lang="ko-KR" altLang="en-US" sz="1400" dirty="0">
                <a:solidFill>
                  <a:srgbClr val="C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랜덤 객체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를 위에서</a:t>
            </a:r>
            <a:b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  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떨어뜨림</a:t>
            </a:r>
            <a:b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   </a:t>
            </a:r>
            <a:r>
              <a:rPr lang="ko-KR" altLang="en-US" sz="1400" dirty="0">
                <a:solidFill>
                  <a:srgbClr val="C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같은 객체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끼리 합치면 </a:t>
            </a:r>
            <a:r>
              <a:rPr lang="ko-KR" altLang="en-US" sz="1400" dirty="0">
                <a:solidFill>
                  <a:srgbClr val="C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더 큰</a:t>
            </a:r>
            <a:r>
              <a:rPr lang="en-US" altLang="ko-KR" sz="1400" dirty="0">
                <a:solidFill>
                  <a:srgbClr val="C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ko-KR" altLang="en-US" sz="1400" dirty="0">
                <a:solidFill>
                  <a:srgbClr val="C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객체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로 변신</a:t>
            </a:r>
            <a:b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 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과일이 쌓여 </a:t>
            </a:r>
            <a:r>
              <a:rPr lang="ko-KR" altLang="en-US" sz="1400" dirty="0">
                <a:solidFill>
                  <a:srgbClr val="C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일정 높이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에 도달한 후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5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초</a:t>
            </a:r>
            <a:b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 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이내에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게임 종료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각 객체별 </a:t>
            </a:r>
            <a:r>
              <a:rPr lang="ko-KR" alt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점수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및 </a:t>
            </a:r>
            <a:r>
              <a:rPr lang="ko-KR" altLang="en-US" sz="1400" dirty="0">
                <a:solidFill>
                  <a:srgbClr val="FEAF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코인 수치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존재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게임 종료 후 합산하여 </a:t>
            </a:r>
            <a:r>
              <a:rPr lang="ko-KR" alt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최종 점수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및 </a:t>
            </a:r>
            <a:b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   </a:t>
            </a:r>
            <a:r>
              <a:rPr lang="ko-KR" altLang="en-US" sz="1400" dirty="0">
                <a:solidFill>
                  <a:srgbClr val="FEAF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획득 코인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결산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4B3F04F-4975-2F88-A8E1-E282A9CCE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941" y="2275402"/>
            <a:ext cx="4275820" cy="2389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328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9E365-6BEE-0592-96DE-88594C3B6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F549B51-4CA2-6518-3A3F-3AEB3C55C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23" r="12623"/>
          <a:stretch/>
        </p:blipFill>
        <p:spPr>
          <a:xfrm>
            <a:off x="20" y="10"/>
            <a:ext cx="9141694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707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F0117B-F9F3-E1BB-B0FA-2029DFC78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01" y="508090"/>
            <a:ext cx="8364911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60FB35-31EE-BE28-25A1-2454CF88E47F}"/>
              </a:ext>
            </a:extLst>
          </p:cNvPr>
          <p:cNvSpPr txBox="1"/>
          <p:nvPr/>
        </p:nvSpPr>
        <p:spPr>
          <a:xfrm>
            <a:off x="386116" y="695468"/>
            <a:ext cx="4697730" cy="14889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atinLnBrk="0">
              <a:spcBef>
                <a:spcPct val="0"/>
              </a:spcBef>
              <a:spcAft>
                <a:spcPts val="600"/>
              </a:spcAft>
            </a:pPr>
            <a:r>
              <a:rPr lang="en-US" altLang="ko-KR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Web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02" y="508090"/>
            <a:ext cx="8367195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C79E01E-AA5F-DAEE-CDB2-74AC50F44C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1140" y="1849369"/>
            <a:ext cx="4378324" cy="39090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34F856-2D8F-4D22-329C-2A082B883269}"/>
              </a:ext>
            </a:extLst>
          </p:cNvPr>
          <p:cNvSpPr txBox="1"/>
          <p:nvPr/>
        </p:nvSpPr>
        <p:spPr>
          <a:xfrm>
            <a:off x="5083846" y="1565148"/>
            <a:ext cx="3813486" cy="45973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latinLnBrk="0">
              <a:lnSpc>
                <a:spcPct val="110000"/>
              </a:lnSpc>
              <a:spcAft>
                <a:spcPts val="600"/>
              </a:spcAft>
            </a:pPr>
            <a:r>
              <a:rPr lang="en-US" altLang="ko-KR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◎ Web </a:t>
            </a:r>
            <a:r>
              <a: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메인</a:t>
            </a:r>
            <a:endParaRPr lang="en-US" altLang="ko-KR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lnSpc>
                <a:spcPct val="110000"/>
              </a:lnSpc>
              <a:spcAft>
                <a:spcPts val="600"/>
              </a:spcAft>
            </a:pPr>
            <a:r>
              <a:rPr lang="ko-KR" altLang="en-US" sz="1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실행 시 메인 화면</a:t>
            </a:r>
            <a:endParaRPr lang="en-US" altLang="ko-KR" sz="15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lnSpc>
                <a:spcPct val="110000"/>
              </a:lnSpc>
              <a:spcAft>
                <a:spcPts val="600"/>
              </a:spcAft>
            </a:pPr>
            <a:endParaRPr lang="en-US" altLang="ko-KR" sz="15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897997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타이틀 이미지 </a:t>
            </a:r>
            <a:r>
              <a:rPr lang="en-US" altLang="ko-KR" sz="1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이미지 및 </a:t>
            </a:r>
            <a:r>
              <a:rPr lang="ko-KR" altLang="en-US" sz="1500" dirty="0" err="1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게임명</a:t>
            </a:r>
            <a:br>
              <a:rPr lang="en-US" altLang="ko-KR" sz="1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r>
              <a:rPr lang="en-US" altLang="ko-KR" sz="1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   </a:t>
            </a:r>
            <a:r>
              <a:rPr lang="ko-KR" altLang="en-US" sz="1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클릭 시 메인 페이지 </a:t>
            </a:r>
            <a:r>
              <a:rPr lang="en-US" altLang="ko-KR" sz="1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(</a:t>
            </a:r>
            <a:r>
              <a:rPr lang="ko-KR" altLang="en-US" sz="1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현재 화면</a:t>
            </a:r>
            <a:r>
              <a:rPr lang="en-US" altLang="ko-KR" sz="1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)</a:t>
            </a:r>
            <a:r>
              <a:rPr lang="ko-KR" altLang="en-US" sz="1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이동</a:t>
            </a:r>
            <a:endParaRPr lang="en-US" altLang="ko-KR" sz="15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lnSpc>
                <a:spcPct val="110000"/>
              </a:lnSpc>
              <a:spcAft>
                <a:spcPts val="600"/>
              </a:spcAft>
            </a:pPr>
            <a:endParaRPr lang="en-US" altLang="ko-KR" sz="15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500" dirty="0">
                <a:solidFill>
                  <a:srgbClr val="957777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Notice</a:t>
            </a:r>
            <a:r>
              <a:rPr lang="ko-KR" altLang="en-US" sz="1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en-US" altLang="ko-KR" sz="1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공지사항 페이지로 이동</a:t>
            </a:r>
            <a:endParaRPr lang="en-US" altLang="ko-KR" sz="15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5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500" dirty="0">
                <a:solidFill>
                  <a:schemeClr val="accent4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BOARD</a:t>
            </a:r>
            <a:r>
              <a:rPr lang="ko-KR" altLang="en-US" sz="1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en-US" altLang="ko-KR" sz="1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커뮤니티 게시판으로 이동</a:t>
            </a:r>
            <a:endParaRPr lang="en-US" altLang="ko-KR" sz="15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5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500" dirty="0">
                <a:solidFill>
                  <a:schemeClr val="accent1">
                    <a:lumMod val="75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STORE</a:t>
            </a:r>
            <a:r>
              <a:rPr lang="ko-KR" altLang="en-US" sz="1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en-US" altLang="ko-KR" sz="1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상점 페이지로 이동</a:t>
            </a:r>
            <a:endParaRPr lang="en-US" altLang="ko-KR" sz="15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5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500" dirty="0">
                <a:solidFill>
                  <a:schemeClr val="accent6">
                    <a:lumMod val="75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RANKING</a:t>
            </a:r>
            <a:r>
              <a:rPr lang="ko-KR" altLang="en-US" sz="1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en-US" altLang="ko-KR" sz="1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랭킹 페이지로 이동</a:t>
            </a:r>
            <a:endParaRPr lang="en-US" altLang="ko-KR" sz="15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5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Sign</a:t>
            </a:r>
            <a:r>
              <a:rPr lang="ko-KR" altLang="en-US" sz="1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en-US" altLang="ko-KR" sz="1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up, Log</a:t>
            </a:r>
            <a:r>
              <a:rPr lang="ko-KR" altLang="en-US" sz="1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en-US" altLang="ko-KR" sz="1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in</a:t>
            </a:r>
            <a:r>
              <a:rPr lang="ko-KR" altLang="en-US" sz="1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en-US" altLang="ko-KR" sz="1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해당 페이지 이동</a:t>
            </a:r>
            <a:endParaRPr lang="en-US" altLang="ko-KR" sz="15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5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5497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4FA1B-079A-ED63-E214-C6E437AF9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D1A6D9-E900-AC5B-C22F-B6B157F80AFD}"/>
              </a:ext>
            </a:extLst>
          </p:cNvPr>
          <p:cNvSpPr txBox="1"/>
          <p:nvPr/>
        </p:nvSpPr>
        <p:spPr>
          <a:xfrm>
            <a:off x="390906" y="685309"/>
            <a:ext cx="8366760" cy="11155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atinLnBrk="0">
              <a:spcBef>
                <a:spcPct val="0"/>
              </a:spcBef>
              <a:spcAft>
                <a:spcPts val="600"/>
              </a:spcAft>
            </a:pPr>
            <a:r>
              <a:rPr lang="en-US" altLang="ko-KR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1193EB-F8D5-B4DF-D3F9-0B277C0096E5}"/>
              </a:ext>
            </a:extLst>
          </p:cNvPr>
          <p:cNvSpPr txBox="1"/>
          <p:nvPr/>
        </p:nvSpPr>
        <p:spPr>
          <a:xfrm>
            <a:off x="5220459" y="1800877"/>
            <a:ext cx="3532635" cy="48539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atinLnBrk="0">
              <a:spcAft>
                <a:spcPts val="600"/>
              </a:spcAft>
            </a:pPr>
            <a:r>
              <a: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◎ 로그인 및 회원가입 </a:t>
            </a:r>
            <a:endParaRPr lang="en-US" altLang="ko-KR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Unity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의 로그인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회원가입과 동일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▶ 로그인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ID, PWD : ID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및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PWD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입력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762828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로그인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버튼 클릭 시 로그인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r>
              <a:rPr lang="ko-KR" altLang="en-US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▶ 회원가입</a:t>
            </a:r>
            <a:endParaRPr lang="en-US" altLang="ko-KR" sz="1400" dirty="0">
              <a:solidFill>
                <a:schemeClr val="accent3">
                  <a:lumMod val="60000"/>
                  <a:lumOff val="4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ID, PWD, Nick 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정보 입력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762828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회원가입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계정 생성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450D8B3-632B-BBFE-F555-5E26B7E0E2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0727" y="1516026"/>
            <a:ext cx="3623109" cy="245218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0C0A692-EDD4-5BCB-548B-EBC3EE61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6155" y="3968209"/>
            <a:ext cx="3623109" cy="2593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656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55F73-8AB1-533D-4C36-C929061C6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C7F28B-2E8F-CE36-4587-FA04642CB0A1}"/>
              </a:ext>
            </a:extLst>
          </p:cNvPr>
          <p:cNvSpPr txBox="1"/>
          <p:nvPr/>
        </p:nvSpPr>
        <p:spPr>
          <a:xfrm>
            <a:off x="390906" y="685309"/>
            <a:ext cx="8366760" cy="11155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atinLnBrk="0">
              <a:spcBef>
                <a:spcPct val="0"/>
              </a:spcBef>
              <a:spcAft>
                <a:spcPts val="600"/>
              </a:spcAft>
            </a:pPr>
            <a:r>
              <a:rPr lang="en-US" altLang="ko-KR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1C9369-01DD-1161-CA0A-F6299D61D9DA}"/>
              </a:ext>
            </a:extLst>
          </p:cNvPr>
          <p:cNvSpPr txBox="1"/>
          <p:nvPr/>
        </p:nvSpPr>
        <p:spPr>
          <a:xfrm>
            <a:off x="5220459" y="1800877"/>
            <a:ext cx="3685034" cy="48539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atinLnBrk="0">
              <a:spcAft>
                <a:spcPts val="600"/>
              </a:spcAft>
            </a:pPr>
            <a:r>
              <a: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◎ </a:t>
            </a:r>
            <a:r>
              <a:rPr lang="ko-KR" altLang="en-US" dirty="0">
                <a:solidFill>
                  <a:srgbClr val="957777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공지사항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관리자의 글쓰기 권한이 있는 공지 페이지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888E6A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번호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글 번호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888E6A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제목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글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제목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888E6A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작성자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글쓴이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888E6A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작성일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작성일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888E6A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조회수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조회수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글쓰기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버튼 클릭 시 글쓰기 화면으로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16B28C2-8C87-7461-1926-478D3FCCE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1140" y="1854382"/>
            <a:ext cx="4378324" cy="389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290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00A8D-38A6-2CED-1484-13A39BE30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91AE75-5732-6DD8-D41C-28D15FC1189F}"/>
              </a:ext>
            </a:extLst>
          </p:cNvPr>
          <p:cNvSpPr txBox="1"/>
          <p:nvPr/>
        </p:nvSpPr>
        <p:spPr>
          <a:xfrm>
            <a:off x="390906" y="685309"/>
            <a:ext cx="8366760" cy="11155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atinLnBrk="0">
              <a:spcBef>
                <a:spcPct val="0"/>
              </a:spcBef>
              <a:spcAft>
                <a:spcPts val="600"/>
              </a:spcAft>
            </a:pPr>
            <a:r>
              <a:rPr lang="en-US" altLang="ko-KR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D6921A-A204-BC6D-0845-B118F46B2305}"/>
              </a:ext>
            </a:extLst>
          </p:cNvPr>
          <p:cNvSpPr txBox="1"/>
          <p:nvPr/>
        </p:nvSpPr>
        <p:spPr>
          <a:xfrm>
            <a:off x="5220459" y="1800877"/>
            <a:ext cx="3532635" cy="48539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atinLnBrk="0">
              <a:spcAft>
                <a:spcPts val="600"/>
              </a:spcAft>
            </a:pPr>
            <a:r>
              <a: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◎ </a:t>
            </a:r>
            <a:r>
              <a:rPr lang="ko-KR" altLang="en-US" dirty="0">
                <a:solidFill>
                  <a:srgbClr val="957777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공지사항</a:t>
            </a:r>
            <a:r>
              <a: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글쓰기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관리자 글쓰기 화면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제목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글 제목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내용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공지 내용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버튼 클릭 시 공지 등록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FEBB2CE-A1F1-3271-8672-CEB1600A5A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1140" y="1874290"/>
            <a:ext cx="4378324" cy="385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764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9C081-3223-F17E-E8F5-47B3507B4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A319F8-5D6F-0212-2811-06C0B4A7D888}"/>
              </a:ext>
            </a:extLst>
          </p:cNvPr>
          <p:cNvSpPr txBox="1"/>
          <p:nvPr/>
        </p:nvSpPr>
        <p:spPr>
          <a:xfrm>
            <a:off x="390906" y="685309"/>
            <a:ext cx="8366760" cy="11155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atinLnBrk="0">
              <a:spcBef>
                <a:spcPct val="0"/>
              </a:spcBef>
              <a:spcAft>
                <a:spcPts val="600"/>
              </a:spcAft>
            </a:pPr>
            <a:r>
              <a:rPr lang="en-US" altLang="ko-KR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0170A1-04B1-23F5-357E-672C022B8699}"/>
              </a:ext>
            </a:extLst>
          </p:cNvPr>
          <p:cNvSpPr txBox="1"/>
          <p:nvPr/>
        </p:nvSpPr>
        <p:spPr>
          <a:xfrm>
            <a:off x="5220459" y="1800877"/>
            <a:ext cx="3532635" cy="48539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atinLnBrk="0">
              <a:spcAft>
                <a:spcPts val="600"/>
              </a:spcAft>
            </a:pPr>
            <a:r>
              <a: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◎ </a:t>
            </a:r>
            <a:r>
              <a:rPr lang="en-US" altLang="ko-KR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Web</a:t>
            </a:r>
            <a:r>
              <a: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ko-KR" altLang="en-US" dirty="0">
                <a:solidFill>
                  <a:srgbClr val="957777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상점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게임 내 얻은 </a:t>
            </a:r>
            <a:r>
              <a:rPr lang="ko-KR" altLang="en-US" sz="1400" dirty="0">
                <a:solidFill>
                  <a:srgbClr val="FEAF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코인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으로 아이템 구매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좌측 버튼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태그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클릭 시 해당 게임의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r>
              <a:rPr lang="en-US" altLang="ko-K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   </a:t>
            </a:r>
            <a:r>
              <a:rPr lang="ko-KR" altLang="en-US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아이템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목록 화면 표시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상품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아이템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이미지 표시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Buy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버튼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가격표시 및 클릭 시 구매</a:t>
            </a:r>
            <a:b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  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메시지 팝업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구매 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등록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관리자 계정에만 표시되는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   </a:t>
            </a:r>
            <a:r>
              <a:rPr lang="ko-KR" altLang="en-US" sz="1400" dirty="0">
                <a:solidFill>
                  <a:srgbClr val="957777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상품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등록 페이지 이동 버튼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389C8C8-FFB8-5254-4A02-56FA18FDFD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359" y="1874290"/>
            <a:ext cx="4263886" cy="385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561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945D8-3909-323E-EDA7-06A70F409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D12A38-EEEA-5865-B4C7-72980D35C1B3}"/>
              </a:ext>
            </a:extLst>
          </p:cNvPr>
          <p:cNvSpPr txBox="1"/>
          <p:nvPr/>
        </p:nvSpPr>
        <p:spPr>
          <a:xfrm>
            <a:off x="390906" y="685309"/>
            <a:ext cx="8366760" cy="11155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atinLnBrk="0">
              <a:spcBef>
                <a:spcPct val="0"/>
              </a:spcBef>
              <a:spcAft>
                <a:spcPts val="600"/>
              </a:spcAft>
            </a:pPr>
            <a:r>
              <a:rPr lang="en-US" altLang="ko-KR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ED2AB4-ACDE-5B77-1380-25C1A188D6D7}"/>
              </a:ext>
            </a:extLst>
          </p:cNvPr>
          <p:cNvSpPr txBox="1"/>
          <p:nvPr/>
        </p:nvSpPr>
        <p:spPr>
          <a:xfrm>
            <a:off x="5220459" y="1800877"/>
            <a:ext cx="3685034" cy="48539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atinLnBrk="0">
              <a:spcAft>
                <a:spcPts val="600"/>
              </a:spcAft>
            </a:pPr>
            <a:r>
              <a: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◎ </a:t>
            </a:r>
            <a:r>
              <a:rPr lang="ko-KR" altLang="en-US" dirty="0">
                <a:solidFill>
                  <a:srgbClr val="957777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상품</a:t>
            </a:r>
            <a:r>
              <a: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등록 페이지</a:t>
            </a:r>
            <a:endParaRPr lang="en-US" altLang="ko-KR" sz="8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관리자 상품 등록 페이지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endParaRPr lang="en-US" altLang="ko-KR" sz="8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Game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어느 게임의 상품인지 설정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endParaRPr lang="en-US" altLang="ko-KR" sz="8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Type 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아이템의 타입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(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치장형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기능형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)</a:t>
            </a: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8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957777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Name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등록할 상품의 이름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endParaRPr lang="en-US" altLang="ko-KR" sz="8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FEAF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Price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등록할 상품의 </a:t>
            </a:r>
            <a:r>
              <a:rPr lang="ko-KR" altLang="en-US" sz="1400" dirty="0">
                <a:solidFill>
                  <a:srgbClr val="FEAF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코인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가격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8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Image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등록할 상품의 이미지를 </a:t>
            </a:r>
            <a:b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  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컴퓨터 내에서 찾고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업로드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8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추가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상품 등록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252D567-955F-D28D-2007-ACADEBD1F4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359" y="1893157"/>
            <a:ext cx="4263886" cy="3821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2643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08B2E-177E-B487-F13B-106B6236F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AB5512-9CD1-8761-4FDB-FAB2971B2779}"/>
              </a:ext>
            </a:extLst>
          </p:cNvPr>
          <p:cNvSpPr txBox="1"/>
          <p:nvPr/>
        </p:nvSpPr>
        <p:spPr>
          <a:xfrm>
            <a:off x="390906" y="685309"/>
            <a:ext cx="8366760" cy="11155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atinLnBrk="0">
              <a:spcBef>
                <a:spcPct val="0"/>
              </a:spcBef>
              <a:spcAft>
                <a:spcPts val="600"/>
              </a:spcAft>
            </a:pPr>
            <a:r>
              <a:rPr lang="en-US" altLang="ko-KR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80865B-25BF-3A1C-D729-E42DCA54B5F4}"/>
              </a:ext>
            </a:extLst>
          </p:cNvPr>
          <p:cNvSpPr txBox="1"/>
          <p:nvPr/>
        </p:nvSpPr>
        <p:spPr>
          <a:xfrm>
            <a:off x="5220459" y="1800877"/>
            <a:ext cx="3532635" cy="48539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atinLnBrk="0">
              <a:spcAft>
                <a:spcPts val="600"/>
              </a:spcAft>
            </a:pPr>
            <a:r>
              <a: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◎ </a:t>
            </a:r>
            <a:r>
              <a:rPr lang="ko-KR" alt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랭킹</a:t>
            </a:r>
            <a:r>
              <a: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페이지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각 게임별 유저의 </a:t>
            </a:r>
            <a:r>
              <a:rPr lang="ko-KR" alt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점수 랭킹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표시 페이지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latinLnBrk="0">
              <a:spcAft>
                <a:spcPts val="600"/>
              </a:spcAft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Game 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선택 시 해당 게임의 </a:t>
            </a:r>
            <a:r>
              <a:rPr lang="ko-KR" alt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랭킹</a:t>
            </a:r>
            <a:br>
              <a:rPr lang="en-US" altLang="ko-KR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 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목록 화면 표시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순위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오름차순으로 순위 표시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닉네임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해당 기록을 세운 유저의 이름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점수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해당 게임 기록의 </a:t>
            </a:r>
            <a:r>
              <a:rPr lang="ko-KR" alt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점수</a:t>
            </a:r>
            <a:endParaRPr lang="en-US" altLang="ko-KR" sz="1400" dirty="0">
              <a:solidFill>
                <a:schemeClr val="accent4">
                  <a:lumMod val="60000"/>
                  <a:lumOff val="4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chemeClr val="accent4">
                  <a:lumMod val="60000"/>
                  <a:lumOff val="4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indent="-228600" latinLnBrk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기록 시간 </a:t>
            </a:r>
            <a:r>
              <a:rPr lang="en-US" altLang="ko-KR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해당 순위의 기록 시간</a:t>
            </a:r>
            <a:endParaRPr lang="en-US" altLang="ko-KR" sz="1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69F5E30-A026-6A9F-1AEF-7462060503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359" y="1906744"/>
            <a:ext cx="4263886" cy="379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666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14C80D-44E3-01C4-1DC0-1F226964E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937" y="2905770"/>
            <a:ext cx="8374111" cy="2247681"/>
          </a:xfrm>
        </p:spPr>
        <p:txBody>
          <a:bodyPr/>
          <a:lstStyle/>
          <a:p>
            <a:pPr algn="ctr"/>
            <a:r>
              <a:rPr lang="en-US" altLang="ko-KR" sz="7200" dirty="0"/>
              <a:t>THANK YOU.</a:t>
            </a:r>
            <a:endParaRPr lang="ko-KR" altLang="en-US" sz="7200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AB2F527F-91EB-D6BC-93FE-6FDCF96F03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689048" y="3857799"/>
            <a:ext cx="3765887" cy="654908"/>
          </a:xfrm>
        </p:spPr>
        <p:txBody>
          <a:bodyPr>
            <a:normAutofit fontScale="62500" lnSpcReduction="20000"/>
          </a:bodyPr>
          <a:lstStyle/>
          <a:p>
            <a:pPr algn="ctr"/>
            <a:r>
              <a:rPr lang="ko-KR" altLang="en-US" sz="1900" i="0" dirty="0"/>
              <a:t>경청해 주셔서 감사합니다</a:t>
            </a:r>
            <a:r>
              <a:rPr lang="en-US" altLang="ko-KR" sz="1900" i="0" dirty="0"/>
              <a:t>.</a:t>
            </a:r>
          </a:p>
          <a:p>
            <a:pPr algn="ctr"/>
            <a:r>
              <a:rPr lang="en-US" altLang="ko-KR" sz="1800" dirty="0"/>
              <a:t> </a:t>
            </a:r>
            <a:r>
              <a:rPr lang="en-US" altLang="ko-KR" sz="1800" i="0" dirty="0"/>
              <a:t>https://github.com/YOuO506/Project-Uniplay</a:t>
            </a:r>
          </a:p>
        </p:txBody>
      </p:sp>
    </p:spTree>
    <p:extLst>
      <p:ext uri="{BB962C8B-B14F-4D97-AF65-F5344CB8AC3E}">
        <p14:creationId xmlns:p14="http://schemas.microsoft.com/office/powerpoint/2010/main" val="2349400501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Custom 86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Bierstadt">
      <a:majorFont>
        <a:latin typeface="Microsoft GothicNeo"/>
        <a:ea typeface=""/>
        <a:cs typeface=""/>
      </a:majorFont>
      <a:minorFont>
        <a:latin typeface="Microsoft GothicNe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1268</TotalTime>
  <Words>767</Words>
  <Application>Microsoft Office PowerPoint</Application>
  <PresentationFormat>화면 슬라이드 쇼(4:3)</PresentationFormat>
  <Paragraphs>213</Paragraphs>
  <Slides>21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6" baseType="lpstr">
      <vt:lpstr>Microsoft GothicNeo</vt:lpstr>
      <vt:lpstr>맑은 고딕</vt:lpstr>
      <vt:lpstr>배달의민족 도현</vt:lpstr>
      <vt:lpstr>Arial</vt:lpstr>
      <vt:lpstr>GestaltVTI</vt:lpstr>
      <vt:lpstr>Project-UniPlay </vt:lpstr>
      <vt:lpstr>프로젝트 개발 개요</vt:lpstr>
      <vt:lpstr>프로젝트 관련 사항</vt:lpstr>
      <vt:lpstr>개발 환경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도윤 정</dc:creator>
  <cp:lastModifiedBy>도윤 정</cp:lastModifiedBy>
  <cp:revision>35</cp:revision>
  <dcterms:created xsi:type="dcterms:W3CDTF">2025-03-17T09:39:26Z</dcterms:created>
  <dcterms:modified xsi:type="dcterms:W3CDTF">2025-12-10T07:57:03Z</dcterms:modified>
</cp:coreProperties>
</file>